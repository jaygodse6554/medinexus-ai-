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  <p:embeddedFont>
      <p:font typeface="Tomorrow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5630B7-5AD3-4517-A8A9-1AE868F9FB3C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879AFB-C456-4E0F-A9A1-F6D9D0F0DE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185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879AFB-C456-4E0F-A9A1-F6D9D0F0DE0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44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jpe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6.svg"/><Relationship Id="rId7" Type="http://schemas.openxmlformats.org/officeDocument/2006/relationships/image" Target="../media/image11.jpe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8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7381" y="2444991"/>
            <a:ext cx="6759150" cy="4094397"/>
            <a:chOff x="0" y="0"/>
            <a:chExt cx="9012199" cy="54591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12174" cy="5459222"/>
            </a:xfrm>
            <a:custGeom>
              <a:avLst/>
              <a:gdLst/>
              <a:ahLst/>
              <a:cxnLst/>
              <a:rect l="l" t="t" r="r" b="b"/>
              <a:pathLst>
                <a:path w="9012174" h="5459222">
                  <a:moveTo>
                    <a:pt x="0" y="0"/>
                  </a:moveTo>
                  <a:lnTo>
                    <a:pt x="9012174" y="0"/>
                  </a:lnTo>
                  <a:lnTo>
                    <a:pt x="9012174" y="5459222"/>
                  </a:lnTo>
                  <a:lnTo>
                    <a:pt x="0" y="54592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5" r="-6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612058" y="6796697"/>
            <a:ext cx="6754168" cy="2576846"/>
            <a:chOff x="0" y="0"/>
            <a:chExt cx="9005557" cy="34357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05570" cy="3435858"/>
            </a:xfrm>
            <a:custGeom>
              <a:avLst/>
              <a:gdLst/>
              <a:ahLst/>
              <a:cxnLst/>
              <a:rect l="l" t="t" r="r" b="b"/>
              <a:pathLst>
                <a:path w="9005570" h="3435858">
                  <a:moveTo>
                    <a:pt x="0" y="0"/>
                  </a:moveTo>
                  <a:lnTo>
                    <a:pt x="9005570" y="0"/>
                  </a:lnTo>
                  <a:lnTo>
                    <a:pt x="9005570" y="3435858"/>
                  </a:lnTo>
                  <a:lnTo>
                    <a:pt x="0" y="34358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11" b="-10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049348" y="6602854"/>
            <a:ext cx="3074041" cy="3278381"/>
            <a:chOff x="0" y="0"/>
            <a:chExt cx="4098722" cy="4371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98671" cy="4371213"/>
            </a:xfrm>
            <a:custGeom>
              <a:avLst/>
              <a:gdLst/>
              <a:ahLst/>
              <a:cxnLst/>
              <a:rect l="l" t="t" r="r" b="b"/>
              <a:pathLst>
                <a:path w="4098671" h="4371213">
                  <a:moveTo>
                    <a:pt x="0" y="0"/>
                  </a:moveTo>
                  <a:lnTo>
                    <a:pt x="4098671" y="0"/>
                  </a:lnTo>
                  <a:lnTo>
                    <a:pt x="4098671" y="4371213"/>
                  </a:lnTo>
                  <a:lnTo>
                    <a:pt x="0" y="4371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" r="-1" b="-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8603990" y="4806648"/>
            <a:ext cx="1348102" cy="1460497"/>
          </a:xfrm>
          <a:custGeom>
            <a:avLst/>
            <a:gdLst/>
            <a:ahLst/>
            <a:cxnLst/>
            <a:rect l="l" t="t" r="r" b="b"/>
            <a:pathLst>
              <a:path w="1348102" h="1460497">
                <a:moveTo>
                  <a:pt x="0" y="0"/>
                </a:moveTo>
                <a:lnTo>
                  <a:pt x="1348101" y="0"/>
                </a:lnTo>
                <a:lnTo>
                  <a:pt x="1348101" y="1460497"/>
                </a:lnTo>
                <a:lnTo>
                  <a:pt x="0" y="14604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516692" y="8438064"/>
            <a:ext cx="2771775" cy="1849117"/>
          </a:xfrm>
          <a:custGeom>
            <a:avLst/>
            <a:gdLst/>
            <a:ahLst/>
            <a:cxnLst/>
            <a:rect l="l" t="t" r="r" b="b"/>
            <a:pathLst>
              <a:path w="2771775" h="1849117">
                <a:moveTo>
                  <a:pt x="0" y="0"/>
                </a:moveTo>
                <a:lnTo>
                  <a:pt x="2771775" y="0"/>
                </a:lnTo>
                <a:lnTo>
                  <a:pt x="2771775" y="1849117"/>
                </a:lnTo>
                <a:lnTo>
                  <a:pt x="0" y="18491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44019" y="3589496"/>
            <a:ext cx="511807" cy="511807"/>
          </a:xfrm>
          <a:custGeom>
            <a:avLst/>
            <a:gdLst/>
            <a:ahLst/>
            <a:cxnLst/>
            <a:rect l="l" t="t" r="r" b="b"/>
            <a:pathLst>
              <a:path w="511807" h="511807">
                <a:moveTo>
                  <a:pt x="0" y="0"/>
                </a:moveTo>
                <a:lnTo>
                  <a:pt x="511807" y="0"/>
                </a:lnTo>
                <a:lnTo>
                  <a:pt x="511807" y="511807"/>
                </a:lnTo>
                <a:lnTo>
                  <a:pt x="0" y="511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116" b="-116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34" r="1" b="-13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74" r="-175" b="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673737" y="2958303"/>
            <a:ext cx="8297813" cy="4539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•Title name- </a:t>
            </a:r>
            <a:r>
              <a:rPr lang="en-US" sz="2400" b="1" spc="62" dirty="0" err="1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Medinexus</a:t>
            </a:r>
            <a:r>
              <a:rPr lang="en-US" sz="2400" b="1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 AI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•Problem Statement Title- </a:t>
            </a:r>
            <a:r>
              <a:rPr lang="en-US" sz="2400" b="1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Intelligent Healthcare Management System with Disease Prediction and Medical Report Analysis</a:t>
            </a:r>
          </a:p>
          <a:p>
            <a:pPr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•Team ID-AIML-79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•Team Name- </a:t>
            </a:r>
            <a:r>
              <a:rPr lang="en-US" sz="2400" b="1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Tech Titans</a:t>
            </a:r>
          </a:p>
          <a:p>
            <a:pPr algn="l">
              <a:lnSpc>
                <a:spcPts val="2879"/>
              </a:lnSpc>
            </a:pPr>
            <a:endParaRPr lang="en-US" sz="24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algn="l">
              <a:lnSpc>
                <a:spcPts val="3240"/>
              </a:lnSpc>
            </a:pPr>
            <a:r>
              <a:rPr lang="en-US" sz="2700" spc="-1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•Mentor name- </a:t>
            </a:r>
            <a:r>
              <a:rPr lang="en-US" sz="2400" b="1" spc="-10" dirty="0">
                <a:solidFill>
                  <a:srgbClr val="000000"/>
                </a:solidFill>
                <a:latin typeface="Tomorrow" panose="020B0604020202020204" charset="0"/>
                <a:ea typeface="Arial"/>
                <a:cs typeface="Arial"/>
                <a:sym typeface="Arial"/>
              </a:rPr>
              <a:t>Dr. Swati Shirke-Deshmukh</a:t>
            </a:r>
          </a:p>
          <a:p>
            <a:pPr algn="l">
              <a:lnSpc>
                <a:spcPts val="3240"/>
              </a:lnSpc>
            </a:pPr>
            <a:endParaRPr lang="en-US" sz="2700" spc="-1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8028493" y="1573302"/>
            <a:ext cx="2840614" cy="54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b="1" spc="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OBJECTVE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2967" y="2327267"/>
            <a:ext cx="15697201" cy="7066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2879"/>
              </a:lnSpc>
            </a:pPr>
            <a:endParaRPr lang="en-US" sz="2400" dirty="0">
              <a:latin typeface="Tomorrow" panose="020B0604020202020204" charset="0"/>
            </a:endParaRPr>
          </a:p>
          <a:p>
            <a:pPr marL="518160" lvl="1" indent="-259080">
              <a:lnSpc>
                <a:spcPts val="2879"/>
              </a:lnSpc>
              <a:buFont typeface="Arial"/>
              <a:buChar char="•"/>
            </a:pPr>
            <a:endParaRPr lang="en-US" sz="2800" dirty="0">
              <a:latin typeface="Tomorrow" panose="020B0604020202020204" charset="0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2800" b="1" dirty="0"/>
              <a:t>Centralized Healthcare Management :- </a:t>
            </a:r>
            <a:r>
              <a:rPr lang="en-IN" sz="2800" dirty="0"/>
              <a:t>Develop a unified platform that connects patients, doctors, laboratories, and hospital administrators. This helps in managing healthcare services efficiently through a single system.</a:t>
            </a: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endParaRPr lang="en-US" sz="2800" dirty="0">
              <a:latin typeface="Tomorrow" panose="020B0604020202020204" charset="0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2800" b="1" dirty="0"/>
              <a:t>AI-Based Disease Prediction :- </a:t>
            </a:r>
            <a:r>
              <a:rPr lang="en-IN" sz="2800" dirty="0"/>
              <a:t>Implement machine learning models to predict possible diseases based on patient symptoms, medical history, and health records. This supports early detection and timely medical consultation.</a:t>
            </a: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endParaRPr lang="en-IN" sz="2800" dirty="0"/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2800" b="1" dirty="0"/>
              <a:t>Intelligent Medical Report Analysis :- </a:t>
            </a:r>
            <a:r>
              <a:rPr lang="en-IN" sz="2800" dirty="0"/>
              <a:t>Enable automated analysis of medical reports using AI and OCR technologies. The system will extract key information and provide meaningful health insights.</a:t>
            </a: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endParaRPr lang="en-US" sz="2800" dirty="0">
              <a:latin typeface="Tomorrow" panose="020B0604020202020204" charset="0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2800" b="1" dirty="0"/>
              <a:t>Smart Hospital Services :- </a:t>
            </a:r>
            <a:r>
              <a:rPr lang="en-IN" sz="2800" dirty="0"/>
              <a:t>Facilitate appointment booking, doctor availability tracking, prescription management, bed availability monitoring, and emergency healthcare services in real time.</a:t>
            </a: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endParaRPr lang="en-IN" sz="2800" dirty="0"/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2800" b="1" dirty="0"/>
              <a:t>Enhanced Patient Care and Accessibility :- </a:t>
            </a:r>
            <a:r>
              <a:rPr lang="en-IN" sz="2800" dirty="0"/>
              <a:t>Provide web and mobile access to healthcare services, ensuring secure medical record management, timely notifications, and improved patient engagement.</a:t>
            </a:r>
            <a:endParaRPr lang="en-US" sz="28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259080" lvl="1">
              <a:lnSpc>
                <a:spcPts val="2879"/>
              </a:lnSpc>
            </a:pPr>
            <a:endParaRPr lang="en-US" sz="2800" spc="62" dirty="0">
              <a:solidFill>
                <a:srgbClr val="000000"/>
              </a:solidFill>
              <a:latin typeface="Tomorrow" panose="020B0604020202020204" charset="0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254026" y="1626232"/>
            <a:ext cx="1779949" cy="54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b="1" spc="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43100" y="2552700"/>
            <a:ext cx="144018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just">
              <a:buFont typeface="Arial"/>
              <a:buChar char="•"/>
            </a:pPr>
            <a:r>
              <a:rPr lang="en-IN" sz="2800" dirty="0"/>
              <a:t>The system will provide a centralized platform that connects patients, doctors, laboratories, and hospital administrators. It aims to streamline healthcare operations and improve communication among all stakeholders.</a:t>
            </a:r>
          </a:p>
          <a:p>
            <a:pPr marL="518160" lvl="1" indent="-259080" algn="just">
              <a:buFont typeface="Arial"/>
              <a:buChar char="•"/>
            </a:pPr>
            <a:endParaRPr lang="en-US" sz="2800" dirty="0">
              <a:latin typeface="Tomorrow" panose="020B0604020202020204" charset="0"/>
            </a:endParaRPr>
          </a:p>
          <a:p>
            <a:pPr marL="518160" lvl="1" indent="-259080" algn="just">
              <a:buFont typeface="Arial"/>
              <a:buChar char="•"/>
            </a:pPr>
            <a:r>
              <a:rPr lang="en-IN" sz="2800" dirty="0"/>
              <a:t>The project includes AI-based disease prediction and medical report analysis to assist users in understanding their health conditions and seeking appropriate medical care.</a:t>
            </a:r>
          </a:p>
          <a:p>
            <a:pPr marL="518160" lvl="1" indent="-259080" algn="just">
              <a:buFont typeface="Arial"/>
              <a:buChar char="•"/>
            </a:pPr>
            <a:endParaRPr lang="en-US" sz="28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518160" lvl="1" indent="-259080" algn="just">
              <a:buFont typeface="Arial"/>
              <a:buChar char="•"/>
            </a:pPr>
            <a:r>
              <a:rPr lang="en-IN" sz="2800" dirty="0"/>
              <a:t>The platform will enable secure storage and access to prescriptions, laboratory reports, appointment history, and patient health records, reducing dependency on physical documents.</a:t>
            </a:r>
          </a:p>
          <a:p>
            <a:pPr marL="259080" lvl="1" algn="just"/>
            <a:endParaRPr lang="en-US" sz="2800" b="1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518160" lvl="1" indent="-259080" algn="just">
              <a:buFont typeface="Arial"/>
              <a:buChar char="•"/>
            </a:pPr>
            <a:r>
              <a:rPr lang="en-IN" sz="2800" dirty="0"/>
              <a:t>The system will support appointment scheduling, doctor availability tracking, bed management, and emergency service coordination to enhance hospital efficiency.</a:t>
            </a:r>
          </a:p>
          <a:p>
            <a:pPr marL="518160" lvl="1" indent="-259080" algn="just">
              <a:buFont typeface="Arial"/>
              <a:buChar char="•"/>
            </a:pPr>
            <a:endParaRPr lang="en-IN" sz="2800" dirty="0">
              <a:latin typeface="Tomorrow" panose="020B0604020202020204" charset="0"/>
            </a:endParaRPr>
          </a:p>
          <a:p>
            <a:pPr marL="518160" lvl="1" indent="-259080" algn="just">
              <a:buFont typeface="Arial"/>
              <a:buChar char="•"/>
            </a:pPr>
            <a:r>
              <a:rPr lang="en-IN" sz="2800" dirty="0"/>
              <a:t>The solution is designed to be accessible through both web and mobile applications, ensuring convenient and real-time access to healthcare services anytime and anywhere.</a:t>
            </a:r>
            <a:endParaRPr lang="en-US" sz="2800" dirty="0">
              <a:latin typeface="Tomorrow" panose="020B0604020202020204" charset="0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D70F92E7-2BAA-0850-DBB5-3DDCEF125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3129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FC7A65C0-601C-93A1-1047-1F36BA23D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487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E39EACAE-1579-19FE-EB76-5682C33E4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8D84E49-E030-7306-77E4-9403A7828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7389511" y="1626232"/>
            <a:ext cx="3508978" cy="54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b="1" spc="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MOTIVATION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24000" y="2552700"/>
            <a:ext cx="15011399" cy="5578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79"/>
              </a:lnSpc>
            </a:pPr>
            <a:endParaRPr lang="en-US" sz="28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3200" dirty="0"/>
              <a:t>Many healthcare processes are still managed manually, leading to delays and inefficiencies. A digital platform can improve accessibility and streamline healthcare services.</a:t>
            </a: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endParaRPr lang="en-US" sz="3200" dirty="0">
              <a:latin typeface="Tomorrow" panose="020B0604020202020204" charset="0"/>
            </a:endParaRPr>
          </a:p>
          <a:p>
            <a:pPr marL="518160" lvl="1" indent="-259080" algn="just">
              <a:buFont typeface="Arial"/>
              <a:buChar char="•"/>
            </a:pPr>
            <a:r>
              <a:rPr lang="en-IN" sz="3200" dirty="0"/>
              <a:t>Existing systems often work independently, making it difficult to manage patient records, appointments, and reports in one place. An integrated solution can enhance coordination among stakeholders.</a:t>
            </a:r>
          </a:p>
          <a:p>
            <a:pPr marL="259080" lvl="1" algn="just">
              <a:lnSpc>
                <a:spcPts val="2879"/>
              </a:lnSpc>
            </a:pPr>
            <a:endParaRPr lang="en-US" sz="3200" dirty="0">
              <a:latin typeface="Tomorrow" panose="020B0604020202020204" charset="0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3200" dirty="0"/>
              <a:t>Timely identification of diseases can improve treatment outcomes. AI-based disease prediction can assist in early diagnosis and preventive healthcare.</a:t>
            </a:r>
          </a:p>
          <a:p>
            <a:pPr marL="259080" lvl="1" algn="just">
              <a:lnSpc>
                <a:spcPts val="2879"/>
              </a:lnSpc>
            </a:pPr>
            <a:endParaRPr lang="en-US" sz="3200" dirty="0">
              <a:latin typeface="Tomorrow" panose="020B0604020202020204" charset="0"/>
            </a:endParaRPr>
          </a:p>
          <a:p>
            <a:pPr marL="518160" lvl="1" indent="-259080" algn="just">
              <a:lnSpc>
                <a:spcPts val="2879"/>
              </a:lnSpc>
              <a:buFont typeface="Arial"/>
              <a:buChar char="•"/>
            </a:pPr>
            <a:r>
              <a:rPr lang="en-IN" sz="3200" dirty="0"/>
              <a:t>Efficient management of appointments, prescriptions, reports, and hospital resources can reduce administrative workload and improve the overall healthcare experience.</a:t>
            </a:r>
            <a:endParaRPr lang="en-US" sz="2800" spc="62" dirty="0">
              <a:solidFill>
                <a:srgbClr val="000000"/>
              </a:solidFill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039" y="66201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6299786" y="1731531"/>
            <a:ext cx="5688427" cy="54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999" b="1" spc="3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56FDA9-C8FF-09E9-5927-428CA81E15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630671"/>
              </p:ext>
            </p:extLst>
          </p:nvPr>
        </p:nvGraphicFramePr>
        <p:xfrm>
          <a:off x="1600199" y="2781300"/>
          <a:ext cx="15087599" cy="6538290"/>
        </p:xfrm>
        <a:graphic>
          <a:graphicData uri="http://schemas.openxmlformats.org/drawingml/2006/table">
            <a:tbl>
              <a:tblPr/>
              <a:tblGrid>
                <a:gridCol w="1447801">
                  <a:extLst>
                    <a:ext uri="{9D8B030D-6E8A-4147-A177-3AD203B41FA5}">
                      <a16:colId xmlns:a16="http://schemas.microsoft.com/office/drawing/2014/main" val="36424196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27332573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4208970648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60483412"/>
                    </a:ext>
                  </a:extLst>
                </a:gridCol>
                <a:gridCol w="3047998">
                  <a:extLst>
                    <a:ext uri="{9D8B030D-6E8A-4147-A177-3AD203B41FA5}">
                      <a16:colId xmlns:a16="http://schemas.microsoft.com/office/drawing/2014/main" val="2727045206"/>
                    </a:ext>
                  </a:extLst>
                </a:gridCol>
              </a:tblGrid>
              <a:tr h="492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Sr. No.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Author / Year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/>
                        <a:t>Technology Used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Key Findings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Research Gap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63869"/>
                  </a:ext>
                </a:extLst>
              </a:tr>
              <a:tr h="133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1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 err="1"/>
                        <a:t>Rajkomar</a:t>
                      </a:r>
                      <a:r>
                        <a:rPr lang="en-IN" sz="2000" dirty="0"/>
                        <a:t> et al. (2018)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Deep Learning, EHR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Improved disease prediction using electronic health records.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Focuses only on prediction, lacks hospital management features.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478429"/>
                  </a:ext>
                </a:extLst>
              </a:tr>
              <a:tr h="11248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2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Radford et al. (2022)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Whisper AI, Speech Recognition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Accurate multilingual speech-to-text processing.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Does not integrate with healthcare management systems.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697921"/>
                  </a:ext>
                </a:extLst>
              </a:tr>
              <a:tr h="11248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Xu et al. (2019)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 err="1"/>
                        <a:t>LayoutLM</a:t>
                      </a:r>
                      <a:r>
                        <a:rPr lang="en-IN" sz="2000" dirty="0"/>
                        <a:t>, OCR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Efficient extraction of information from medical documents.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Limited support for complete medical report analysis.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343049"/>
                  </a:ext>
                </a:extLst>
              </a:tr>
              <a:tr h="1335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4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AI Healthcare Chatbots (2024)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NLP, Conversational AI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Improved patient interaction and healthcare assistance.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Lacks integration with patient records and hospital services.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025475"/>
                  </a:ext>
                </a:extLst>
              </a:tr>
              <a:tr h="11248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5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Smart Hospital Management Systems (2024)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/>
                        <a:t>HMS, Cloud Computing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Digitalized hospital operations and resource management.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/>
                        <a:t>No AI-based disease prediction or report analysis.</a:t>
                      </a:r>
                    </a:p>
                  </a:txBody>
                  <a:tcPr marL="48666" marR="48666" marT="24333" marB="243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5165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2146297" y="4410075"/>
            <a:ext cx="8839042" cy="340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62" dirty="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B7C508-F9E5-F024-C908-B25DFA3BCA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597" y="1618686"/>
            <a:ext cx="12817941" cy="85508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878869"/>
            <a:ext cx="1347473" cy="1197607"/>
          </a:xfrm>
          <a:custGeom>
            <a:avLst/>
            <a:gdLst/>
            <a:ahLst/>
            <a:cxnLst/>
            <a:rect l="l" t="t" r="r" b="b"/>
            <a:pathLst>
              <a:path w="1347473" h="1197607">
                <a:moveTo>
                  <a:pt x="0" y="0"/>
                </a:moveTo>
                <a:lnTo>
                  <a:pt x="1347473" y="0"/>
                </a:lnTo>
                <a:lnTo>
                  <a:pt x="1347473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089784" y="771096"/>
            <a:ext cx="1198245" cy="1197607"/>
          </a:xfrm>
          <a:custGeom>
            <a:avLst/>
            <a:gdLst/>
            <a:ahLst/>
            <a:cxnLst/>
            <a:rect l="l" t="t" r="r" b="b"/>
            <a:pathLst>
              <a:path w="1198245" h="1197607">
                <a:moveTo>
                  <a:pt x="0" y="0"/>
                </a:moveTo>
                <a:lnTo>
                  <a:pt x="1198245" y="0"/>
                </a:lnTo>
                <a:lnTo>
                  <a:pt x="1198245" y="1197607"/>
                </a:lnTo>
                <a:lnTo>
                  <a:pt x="0" y="11976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629286" y="6725364"/>
            <a:ext cx="3658867" cy="3561712"/>
          </a:xfrm>
          <a:custGeom>
            <a:avLst/>
            <a:gdLst/>
            <a:ahLst/>
            <a:cxnLst/>
            <a:rect l="l" t="t" r="r" b="b"/>
            <a:pathLst>
              <a:path w="3658867" h="3561712">
                <a:moveTo>
                  <a:pt x="0" y="0"/>
                </a:moveTo>
                <a:lnTo>
                  <a:pt x="3658866" y="0"/>
                </a:lnTo>
                <a:lnTo>
                  <a:pt x="3658866" y="3561712"/>
                </a:lnTo>
                <a:lnTo>
                  <a:pt x="0" y="3561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0"/>
            <a:ext cx="2146297" cy="2167252"/>
          </a:xfrm>
          <a:custGeom>
            <a:avLst/>
            <a:gdLst/>
            <a:ahLst/>
            <a:cxnLst/>
            <a:rect l="l" t="t" r="r" b="b"/>
            <a:pathLst>
              <a:path w="2146297" h="2167252">
                <a:moveTo>
                  <a:pt x="0" y="0"/>
                </a:moveTo>
                <a:lnTo>
                  <a:pt x="2146297" y="0"/>
                </a:lnTo>
                <a:lnTo>
                  <a:pt x="2146297" y="2167252"/>
                </a:lnTo>
                <a:lnTo>
                  <a:pt x="0" y="21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40024"/>
            <a:ext cx="3514725" cy="1981200"/>
            <a:chOff x="0" y="0"/>
            <a:chExt cx="4686300" cy="2641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6300" cy="2641600"/>
            </a:xfrm>
            <a:custGeom>
              <a:avLst/>
              <a:gdLst/>
              <a:ahLst/>
              <a:cxnLst/>
              <a:rect l="l" t="t" r="r" b="b"/>
              <a:pathLst>
                <a:path w="4686300" h="2641600">
                  <a:moveTo>
                    <a:pt x="0" y="0"/>
                  </a:moveTo>
                  <a:lnTo>
                    <a:pt x="4686300" y="0"/>
                  </a:lnTo>
                  <a:lnTo>
                    <a:pt x="4686300" y="2641600"/>
                  </a:lnTo>
                  <a:lnTo>
                    <a:pt x="0" y="264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16" b="-1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7813519" y="294180"/>
            <a:ext cx="2316061" cy="1133132"/>
            <a:chOff x="0" y="0"/>
            <a:chExt cx="3088081" cy="151084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88132" cy="1510792"/>
            </a:xfrm>
            <a:custGeom>
              <a:avLst/>
              <a:gdLst/>
              <a:ahLst/>
              <a:cxnLst/>
              <a:rect l="l" t="t" r="r" b="b"/>
              <a:pathLst>
                <a:path w="3088132" h="1510792">
                  <a:moveTo>
                    <a:pt x="0" y="0"/>
                  </a:moveTo>
                  <a:lnTo>
                    <a:pt x="3088132" y="0"/>
                  </a:lnTo>
                  <a:lnTo>
                    <a:pt x="3088132" y="1510792"/>
                  </a:lnTo>
                  <a:lnTo>
                    <a:pt x="0" y="1510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4" r="1" b="-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3938628" y="486451"/>
            <a:ext cx="2974658" cy="884463"/>
            <a:chOff x="0" y="0"/>
            <a:chExt cx="3966210" cy="117928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66210" cy="1179322"/>
            </a:xfrm>
            <a:custGeom>
              <a:avLst/>
              <a:gdLst/>
              <a:ahLst/>
              <a:cxnLst/>
              <a:rect l="l" t="t" r="r" b="b"/>
              <a:pathLst>
                <a:path w="3966210" h="1179322">
                  <a:moveTo>
                    <a:pt x="0" y="0"/>
                  </a:moveTo>
                  <a:lnTo>
                    <a:pt x="3966210" y="0"/>
                  </a:lnTo>
                  <a:lnTo>
                    <a:pt x="3966210" y="1179322"/>
                  </a:lnTo>
                  <a:lnTo>
                    <a:pt x="0" y="1179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74" r="-175" b="3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820308" y="1731531"/>
            <a:ext cx="664738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999" b="1" spc="32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6399" y="2962275"/>
            <a:ext cx="15413385" cy="5099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/>
              <a:t>The proposed project, </a:t>
            </a:r>
            <a:r>
              <a:rPr lang="en-IN" sz="2800" b="1" dirty="0"/>
              <a:t>"</a:t>
            </a:r>
            <a:r>
              <a:rPr lang="en-IN" sz="2800" b="1" dirty="0" err="1"/>
              <a:t>MediNexus</a:t>
            </a:r>
            <a:r>
              <a:rPr lang="en-IN" sz="2800" b="1" dirty="0"/>
              <a:t> AI: Intelligent Healthcare Management System with Disease Prediction and Medical Report Analysis"</a:t>
            </a:r>
            <a:r>
              <a:rPr lang="en-IN" sz="2800" dirty="0"/>
              <a:t> aims to address the growing need for a centralized and intelligent healthcare platform. By integrating patients, doctors, laboratories, and hospital administrators into a single ecosystem, the system seeks to improve healthcare accessibility, streamline hospital operations, and enhance patient care. The incorporation of AI-based disease prediction and medical report analysis further enables informed decision-making and early health assessment. Overall, the project has the potential to bridge the gap between traditional healthcare management and modern AI-driven solutions, creating a smarter, more efficient, and patient-centric healthcare system.</a:t>
            </a:r>
            <a:endParaRPr lang="en-US" sz="2800" spc="62" dirty="0">
              <a:latin typeface="Tomorrow"/>
              <a:ea typeface="Tomorrow"/>
              <a:cs typeface="Tomorrow"/>
              <a:sym typeface="Tomo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698</Words>
  <Application>Microsoft Office PowerPoint</Application>
  <PresentationFormat>Custom</PresentationFormat>
  <Paragraphs>80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 Bold</vt:lpstr>
      <vt:lpstr>Tomorrow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EMBS Internship2026 .pptx</dc:title>
  <dc:creator>VIjay</dc:creator>
  <cp:lastModifiedBy>Vijay Godse</cp:lastModifiedBy>
  <cp:revision>5</cp:revision>
  <dcterms:created xsi:type="dcterms:W3CDTF">2006-08-16T00:00:00Z</dcterms:created>
  <dcterms:modified xsi:type="dcterms:W3CDTF">2026-06-11T12:44:22Z</dcterms:modified>
  <dc:identifier>DAHK-Quv2_g</dc:identifier>
</cp:coreProperties>
</file>